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2011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BUILTT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960120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400" b="1">
                <a:solidFill>
                  <a:srgbClr val="0C0C0E"/>
                </a:solidFill>
                <a:latin typeface="Aptos"/>
              </a:rPr>
              <a:t>Redefina a forma de desenvolver software na era da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03320"/>
            <a:ext cx="76809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0">
                <a:solidFill>
                  <a:srgbClr val="565B66"/>
                </a:solidFill>
                <a:latin typeface="Aptos"/>
              </a:rPr>
              <a:t>Como método, IA e uma ferramenta própria aceleram a construção de qualquer aplicação com governança desde a primeira linha de código.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23960" y="4617720"/>
            <a:ext cx="2514600" cy="713232"/>
          </a:xfrm>
          <a:prstGeom prst="rect">
            <a:avLst/>
          </a:prstGeom>
          <a:solidFill>
            <a:srgbClr val="121316"/>
          </a:solidFill>
          <a:ln w="9525">
            <a:solidFill>
              <a:srgbClr val="121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5984" y="4773168"/>
            <a:ext cx="2148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Método + IA + plataforma própria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53328"/>
            <a:ext cx="4389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Apresentação executiva e educativa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BUILTT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9326880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1">
                <a:solidFill>
                  <a:srgbClr val="0C0C0E"/>
                </a:solidFill>
                <a:latin typeface="Aptos"/>
              </a:rPr>
              <a:t>O problema não é falta de código. É falta de contexto confiável.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56432"/>
            <a:ext cx="822960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565B66"/>
                </a:solidFill>
                <a:latin typeface="Aptos"/>
              </a:rPr>
              <a:t>Quando requisitos, decisões técnicas, tarefas e validação ficam espalhados, o time até produz, mas produz com retrabalho, risco e baixa previsibilidade.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4828032"/>
            <a:ext cx="1143000" cy="11430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MÉTODO E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81381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O método Builtt organiza a engenharia antes da IA executar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8229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565B66"/>
                </a:solidFill>
                <a:latin typeface="Aptos"/>
              </a:rPr>
              <a:t>A IA entra como acelerador dentro de um fluxo validado, não como gerador solto de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6148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34056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Todo pedido vira requisito rastreável antes da implementação.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1985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392424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Arquitetura, interface e tarefas são separadas para reduzir ambiguidade.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782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050791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Cada tarefa só é executada depois de aprovação e validação.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3659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709159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QA e evidências fecham o ciclo para aprendizado contínuo.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FLUXO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932688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O método transforma intenção de negócio em software validado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1261872" cy="960120"/>
          </a:xfrm>
          <a:prstGeom prst="rect">
            <a:avLst/>
          </a:prstGeom>
          <a:solidFill>
            <a:srgbClr val="121316"/>
          </a:solidFill>
          <a:ln w="9525">
            <a:solidFill>
              <a:srgbClr val="121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8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REQ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requisito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arquitetura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2584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45736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DRI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2472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5624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tarefas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6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código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5944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42248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QA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evidências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32136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05288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5288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entrega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315968"/>
            <a:ext cx="96926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565B66"/>
                </a:solidFill>
                <a:latin typeface="Aptos"/>
              </a:rPr>
              <a:t>Cada etapa reduz ambiguidade antes da próxima. A IA acelera, mas a validação humana mantém controle.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CAPACIDADES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601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A ferramenta própria conecta áreas que normalmente trabalham separadas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Negócio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Project Charter, requisitos funcionais, critérios de aceite e rastreabilidade entre demanda e entrega.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Menos desalinhamento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Engenharia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Design técnico, DRI, task list, execução guiada, Git, testes e deploy em um fluxo contínuo.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Mais produtividade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Qualidade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Anotações de QA com evidência visual, severidade, tipo de bug, exportação e status de tratativa.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Mais confiança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BUILTT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9326880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1">
                <a:solidFill>
                  <a:srgbClr val="0C0C0E"/>
                </a:solidFill>
                <a:latin typeface="Aptos"/>
              </a:rPr>
              <a:t>A IA passa a trabalhar com trilhos, não com improviso.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56432"/>
            <a:ext cx="822960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565B66"/>
                </a:solidFill>
                <a:latin typeface="Aptos"/>
              </a:rPr>
              <a:t>Antes de alterar código, ela lê ou cria REQ, aguarda validação, revisa DRI, gera tasks e só então executa o que foi aprovado.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4828032"/>
            <a:ext cx="1143000" cy="11430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MÉTODO E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81381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O que a plataforma cobre de ponta a ponta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8229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565B66"/>
                </a:solidFill>
                <a:latin typeface="Aptos"/>
              </a:rPr>
              <a:t>A ferramenta funciona como um cockpit interno para transformar intenção em entrega validada.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6148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34056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Documentação viva de projeto, requisitos e interfaces.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1985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392424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Execução técnica orientada por tarefas rastreáveis.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782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050791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Controle de versão, merge, deploy e operações de ambiente.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3659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709159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QA com extensão do navegador, evidências e relatórios PDF/XLSX.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FEATURES DA PLATAFORMA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0C0C0E"/>
                </a:solidFill>
                <a:latin typeface="Aptos"/>
              </a:rPr>
              <a:t>Features de documentação e engenharia guiada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96926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A plataforma estrutura o trabalho antes, durante e depois da implementação.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76272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40864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Project Charter / TAP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Documento de abertura para alinhar objetivo, escopo, stakeholders, riscos e critério de sucesso.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176272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340864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Functional Specs / REQ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651760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Requisitos funcionais com ID único, critérios de aceite, rastreabilidade e tarefas associadas.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2176272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2340864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Design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651760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Planejamento de arquitetura, dados, integrações, bibliotecas, APIs e restrições técnicas.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9584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94176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DRI de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05072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Documento de Requisito de Interface com componentes, estados, microcopy, responsividade e acessibilidade.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3529584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694176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Task List rastreável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Tarefas em task.md com código padrão TASK-REQ-NN-001 e execução controlada por aprovação.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7304" y="3529584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694176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Task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4005072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Plano detalhado por task para registrar objetivo, arquivos afetados, validação e fora de escopo.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FEATURES DA PLATAFORMA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0C0C0E"/>
                </a:solidFill>
                <a:latin typeface="Aptos"/>
              </a:rPr>
              <a:t>Features de IA, código e versionamento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96926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A IA atua como copiloto operacional, sempre conectada aos artefatos aprovados.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76272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40864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Assistente IA por etapa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Gera e revisa REQ, Design, DRI, tasks, mensagens de commit e textos de QA com contexto.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176272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340864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Execução guiada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651760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Cada task é executada em ordem, validada e marcada no checklist final.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2176272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2340864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Controle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651760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Status, branch ativa, checkout, pull, push, merge e resolução visual de conflitos.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9584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94176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Commit inteligente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05072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Mensagem sugerida pela IA no padrão do histórico e baseada nas alterações reais.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3529584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694176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Arquivos do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Navegação, leitura, edição, exclusão segura com confirmação e exportação do projeto em .zip.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7304" y="3529584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694176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Testes automatizados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4005072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Geração assistida de testes unitários e integração a partir dos requisitos e critérios de aceite.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FEATURES DA PLATAFORMA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96696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0C0C0E"/>
                </a:solidFill>
                <a:latin typeface="Aptos"/>
              </a:rPr>
              <a:t>Features de QA, operação 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96926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A ferramenta fecha o ciclo com validação visual, ambiente, acesso e evidência.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76272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40864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QA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Lista, kanban, filtros, status, severidade, tipo de bug, detalhe em drawer e evidência visual.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176272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340864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Extensão 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651760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Captura tela, URL, seletor, viewport, elemento alvo com overlay e envia anotações para o projeto.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2176272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2340864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Exportação 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651760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Relatórios em PDF e XLSX com evidências, descrição, tipo, status e rastreabilidade.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9584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94176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Ops 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05072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Fluxo para ambiente, variáveis, secrets, .env, Docker, Caddy, domínio, banco e deploy assistido.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3529584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694176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Autenticação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Tela de login, usuário root da ferramenta e bloqueio de acesso público sem cadastro aberto.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7304" y="3529584"/>
            <a:ext cx="3566160" cy="1124712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694176"/>
            <a:ext cx="3200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Governança desde o início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4005072"/>
            <a:ext cx="3182112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REQ, DRI, tasks, QA, Git e deploy ficam conectados no mesmo ciclo auditável.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IMPACTO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5039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O ganho não vem só de escrever código mais rápido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5074920" cy="1243584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566928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Aptos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377440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produtividade de engenharia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807208"/>
            <a:ext cx="3611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65B66"/>
                </a:solidFill>
                <a:latin typeface="Aptos"/>
              </a:rPr>
              <a:t>Menos tempo procurando contexto e reescrevendo decisões.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148840"/>
            <a:ext cx="5074920" cy="1243584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404872"/>
            <a:ext cx="566928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377440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ciclo de desenvolvimento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807208"/>
            <a:ext cx="3611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65B66"/>
                </a:solidFill>
                <a:latin typeface="Aptos"/>
              </a:rPr>
              <a:t>Requisitos, tarefas e QA entram no fluxo desde o início.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13048"/>
            <a:ext cx="5074920" cy="1243584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566928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Aptos"/>
              </a:rPr>
              <a:t>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041648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cobertura de testes unitários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4471416"/>
            <a:ext cx="3611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65B66"/>
                </a:solidFill>
                <a:latin typeface="Aptos"/>
              </a:rPr>
              <a:t>Tarefas já nascem com critérios testáveis.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813048"/>
            <a:ext cx="5074920" cy="1243584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069080"/>
            <a:ext cx="566928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Aptos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4041648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esforço operacional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471416"/>
            <a:ext cx="3611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65B66"/>
                </a:solidFill>
                <a:latin typeface="Aptos"/>
              </a:rPr>
              <a:t>Menos backoffice manual para registrar, cobrar e validar.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MUDANÇA OPERACIONAL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778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0C0C0E"/>
                </a:solidFill>
                <a:latin typeface="Aptos"/>
              </a:rPr>
              <a:t>A maturidade aumenta quando o ciclo inteiro fica rastreável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00784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565B66"/>
                </a:solidFill>
                <a:latin typeface="Aptos"/>
              </a:rPr>
              <a:t>Leitura conceitual do avanço esperado quando requisitos, arquitetura, tarefas, QA e deploy entram no mesmo sistema de trabalho.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Contexto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807208"/>
            <a:ext cx="1440180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3017520"/>
            <a:ext cx="3374136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27832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Execução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3246120"/>
            <a:ext cx="2057400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0" y="3456432"/>
            <a:ext cx="3209544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66744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Testes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685031"/>
            <a:ext cx="1152144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3895344"/>
            <a:ext cx="3044952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05656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QA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4123944"/>
            <a:ext cx="1234439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4334256"/>
            <a:ext cx="3538727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44568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Deploy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4562856"/>
            <a:ext cx="1728216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0" y="4773168"/>
            <a:ext cx="3127248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743200"/>
            <a:ext cx="7315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565B66"/>
                </a:solidFill>
                <a:latin typeface="Aptos"/>
              </a:rPr>
              <a:t>Antes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8" y="2788920"/>
            <a:ext cx="320040" cy="91440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3035808"/>
            <a:ext cx="1645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565B66"/>
                </a:solidFill>
                <a:latin typeface="Aptos"/>
              </a:rPr>
              <a:t>Com método Builtt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59952" y="3081528"/>
            <a:ext cx="320040" cy="9144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3611880"/>
            <a:ext cx="21488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C0C0E"/>
                </a:solidFill>
                <a:latin typeface="Aptos"/>
              </a:rPr>
              <a:t>O ponto central: menos dependência de memória individual, mais governança operacional.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CAPACIDADES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601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Benefícios para a liderança, engenharia e operação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Liderança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Mais visibilidade sobre escopo, progresso, riscos e qualidade sem depender de reuniões de atualização.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Governança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Engenharia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Menos troca de contexto, menos retrabalho e mais clareza sobre a próxima tarefa executável.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Velocidade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Operação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Menos controle manual em planilhas, chats e backoffice para acompanhar pendências e validação.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Eficiência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MÉTODO E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81381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Governança e segurança começam antes do primeiro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8229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565B66"/>
                </a:solidFill>
                <a:latin typeface="Aptos"/>
              </a:rPr>
              <a:t>O método força disciplina operacional no momento em que a decisão ainda é barata de corrigir.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6148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34056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Requisitos aprovados antes de implementação.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1985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392424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Tarefas pequenas, auditáveis e conectadas ao REQ.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782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050791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Evidências de QA vinculadas à tela e ao elemento analisado.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3659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709159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Deploy e ambientes tratados como parte do ciclo, não como etapa esquecida.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COMO ENSINAR O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4183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0C0C0E"/>
                </a:solidFill>
                <a:latin typeface="Aptos"/>
              </a:rPr>
              <a:t>O método muda a pergunta feita antes de começar a codar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4800600" cy="502920"/>
          </a:xfrm>
          <a:prstGeom prst="rect">
            <a:avLst/>
          </a:prstGeom>
          <a:solidFill>
            <a:srgbClr val="121316"/>
          </a:solidFill>
          <a:ln w="9525">
            <a:solidFill>
              <a:srgbClr val="121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06440" y="2057400"/>
            <a:ext cx="5212080" cy="50292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85416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185416"/>
            <a:ext cx="25603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Depois com Builtt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60320"/>
            <a:ext cx="4800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440" y="2560320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24912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“O que vamos implementar?”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724912"/>
            <a:ext cx="4663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“Qual REQ aprovado orienta esta implementação?”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18687"/>
            <a:ext cx="4800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3218687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83279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“A tela parece certa?”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383279"/>
            <a:ext cx="4663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“O DRI cobre estados, componentes e acessibilidade?”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77056"/>
            <a:ext cx="4800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3877056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41648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“Quais tarefas faltam?”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041648"/>
            <a:ext cx="4663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“Qual TASK está autorizada para execução?”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35424"/>
            <a:ext cx="4800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06440" y="4535424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00016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“O QA reportou um bug?”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700016"/>
            <a:ext cx="4663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“Qual evidência visual e qual status estão registrados?”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CAPACIDADES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601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Como iniciar um piloto dentro da empresa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1. Escolher um caso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Selecionar uma aplicação, módulo ou fluxo com dor visível e escopo controlado.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Começar pequeno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2. Rodar o fluxo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Criar REQ, Design, DRI, tasks, execução, QA e relatório de evidências.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Aprender fazendo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3. Medir o antes e 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Comparar tempo de ciclo, retrabalho, cobertura de teste, bugs e esforço operacional.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Provar valor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BUILTT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987552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Software deixa de ser uma sequência de tarefas e vira um sistema de engenharia guiado por 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6908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D2D6DC"/>
                </a:solidFill>
                <a:latin typeface="Aptos"/>
              </a:rPr>
              <a:t>Próximo passo: escolher uma aplicação real, documentar o primeiro REQ, validar o DRI, quebrar tasks e executar um piloto com QA integrado.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0"/>
            <a:ext cx="3246120" cy="43891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596128"/>
            <a:ext cx="2834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Piloto recomendado: 2 semanas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